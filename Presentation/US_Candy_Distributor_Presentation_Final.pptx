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1" y="4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4983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azure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aalonso003/US_Candy_Distributor_DB_Analysis" TargetMode="External"/><Relationship Id="rId4" Type="http://schemas.openxmlformats.org/officeDocument/2006/relationships/hyperlink" Target="https://mavenanalytics.io/data-playground/us-candy-distributo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463040"/>
            <a:ext cx="6583680" cy="5486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Candy Distributor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20040" y="14573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Analysis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828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T-SQL exploration of sales, products, factories, customers &amp; candy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98080" y="365760"/>
            <a:ext cx="347472" cy="347472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46720" y="822960"/>
            <a:ext cx="347472" cy="34747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0" y="1371600"/>
            <a:ext cx="347472" cy="34747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321040" y="274320"/>
            <a:ext cx="347472" cy="347472"/>
          </a:xfrm>
          <a:prstGeom prst="ellipse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2743200"/>
            <a:ext cx="5029200" cy="1737360"/>
          </a:xfrm>
          <a:prstGeom prst="rect">
            <a:avLst/>
          </a:prstGeom>
          <a:solidFill>
            <a:srgbClr val="142435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83464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Analytics CAP2761-2263-6206
</a:t>
            </a:r>
            <a:r>
              <a:rPr lang="en-US" sz="13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Candy Distributor (.bacpac)
</a:t>
            </a:r>
            <a:r>
              <a:rPr lang="en-US" sz="13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Database + VS Code + GitHub</a:t>
            </a:r>
          </a:p>
          <a:p>
            <a:pPr marL="0" indent="0">
              <a:buNone/>
            </a:pPr>
            <a:endParaRPr lang="en-US" sz="13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Data Analysts: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Cristopher Tagliarini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Alex Alonso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Christopher Negron</a:t>
            </a:r>
            <a:endParaRPr lang="en-US" sz="13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998B"/>
                </a:solidFill>
              </a:rPr>
              <a:t>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114800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Database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840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Candy Distributor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medium-sized database modeling a fictional candy distribution company operating across the United States.
</a:t>
            </a:r>
            <a:r>
              <a:rPr lang="en-US" sz="13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Tables  •  Azure SQL Database
</a:t>
            </a: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Factories, Products, Customers,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Inventory, SalesTargets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114800" cy="64008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Goals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0600" y="1508760"/>
            <a:ext cx="3840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candy division drives the most revenue?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are most and least profitable?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divisions hitting their monthly sales targets?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 types spend the most?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are the slowest movers?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factories generate the highest gross profit?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998B"/>
                </a:solidFill>
              </a:rPr>
              <a:t>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475488" cy="47548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7552" y="10058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Database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481328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the US Candy Distributor .bacpac file and uploaded it to an Azure Storage container, then restored it as an Azure SQL Database.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475488" cy="47548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005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22392" y="10058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&amp; Explore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481328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the Azure SQL Database to VS Code and used the DBCode extension to explore tables, schemas, and relationships.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3017520"/>
            <a:ext cx="475488" cy="47548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017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87552" y="30175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T-SQL Queries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3493008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 12+ SELECT queries covering JOINs, GROUP BY / HAVING, subqueries, CTEs, variables, stored procedures, and views.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2834640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46320" y="3017520"/>
            <a:ext cx="475488" cy="47548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3017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22392" y="30175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&amp; Publish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3493008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visualizations using DBCode. Exported charts as PNG files, published all deliverables to GitHub, and collaborated with team members.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 Queries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998B"/>
                </a:solidFill>
              </a:rPr>
              <a:t>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790956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75488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4754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87782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Best-Selling Products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17043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· GROUP BY · ORDER BY · TOP 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1371600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which individual products generate the most revenue for the distributor.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804672"/>
            <a:ext cx="475488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9160" y="804672"/>
            <a:ext cx="4754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87782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by Factory (Ranked)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57800" y="117043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· GROUP </a:t>
            </a:r>
            <a:r>
              <a:rPr lang="en-US" sz="950" i="1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· ORDER BY · AGGREGATION · RANK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257800" y="1371600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factories by revenue contribution to spot top performers and under performers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084832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084832"/>
            <a:ext cx="475488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2084832"/>
            <a:ext cx="4754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215798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vs. Sales Targets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245059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· GROUP BY · HAVING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2960" y="2651760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months where each division missed its sales target — highlights underperformance.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2084832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09160" y="2084832"/>
            <a:ext cx="475488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09160" y="2084832"/>
            <a:ext cx="4754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57800" y="215798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Customer Type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245059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· GROUP BY · COUNT DISTINCT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257800" y="2651760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down spend across Retailer, Wholesaler, and Specialty customers with revenue-per-customer.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3364992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4320" y="3364992"/>
            <a:ext cx="475488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3364992"/>
            <a:ext cx="4754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343814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Slow-Moving Products by Factory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" y="373075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3-Table JOIN · GROUP BY · TOP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22960" y="3931920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the 10 products with the lowest unit sales, paired with their supplying factory info.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09160" y="3364992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709160" y="3364992"/>
            <a:ext cx="475488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09160" y="3364992"/>
            <a:ext cx="4754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57800" y="343814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Output &amp; Profitability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57800" y="373075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3-Table JOIN · Margin Calculation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257800" y="3931920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factories by gross profit and margin %, computing COGS from units sold and unit cost.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Findings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998B"/>
                </a:solidFill>
              </a:rPr>
              <a:t>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3891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389120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4114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division leads in units sold (2,094), narrowly ahead of Other (2,045) and Chocolate (1,839)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peaked in 2023 at $5,951.92, with a notable decline into 2025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Lickable Wallpaper is the #1 top-selling product; Nerds is the lowest with only 36 units sold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Wholesalers generate the highest revenue per customer compared to Retailers and Specialty buyers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divisions missed monthly sales targets, Chocolate underperformed most frequently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gross margins vary significantly, some factories are far more profitable than others</a:t>
            </a:r>
            <a:endParaRPr lang="en-US" sz="1150" dirty="0"/>
          </a:p>
        </p:txBody>
      </p:sp>
      <p:pic>
        <p:nvPicPr>
          <p:cNvPr id="9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00600" y="822960"/>
            <a:ext cx="4114800" cy="1923091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926080"/>
            <a:ext cx="4114800" cy="1920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00600" y="2703187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Performance</a:t>
            </a:r>
            <a:endParaRPr lang="en-US" sz="900" b="1" dirty="0"/>
          </a:p>
        </p:txBody>
      </p:sp>
      <p:sp>
        <p:nvSpPr>
          <p:cNvPr id="12" name="Text 8"/>
          <p:cNvSpPr/>
          <p:nvPr/>
        </p:nvSpPr>
        <p:spPr>
          <a:xfrm>
            <a:off x="4800600" y="480174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Year-over-Year (2020–2025)</a:t>
            </a:r>
            <a:endParaRPr lang="en-US" sz="9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998B"/>
                </a:solidFill>
              </a:rPr>
              <a:t>5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4297680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74291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Selling Products</a:t>
            </a:r>
            <a:endParaRPr lang="en-US" sz="900" b="1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777240"/>
            <a:ext cx="4297680" cy="2011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09160" y="273576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10 Lowest Performing Products</a:t>
            </a:r>
            <a:endParaRPr lang="en-US" sz="900" b="1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926080"/>
            <a:ext cx="4297680" cy="20116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74320" y="491318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Year-over-Year (Bar)</a:t>
            </a:r>
            <a:endParaRPr lang="en-US" sz="900" b="1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2926080"/>
            <a:ext cx="4297680" cy="20116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709160" y="491318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 per Candy Division</a:t>
            </a:r>
            <a:endParaRPr lang="en-US" sz="9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Recommendations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998B"/>
                </a:solidFill>
              </a:rPr>
              <a:t>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3840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leads in volume but all three divisions are competitive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steadily 2020–2023 then declined, worth monitoring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number of products (Nerds, White Chocolate Dream Bar) account for very low sales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Wholesalers deliver the highest revenue per customer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divisions missed monthly targets, particularly Chocolate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206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4206240" cy="64008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914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00600" y="1371600"/>
            <a:ext cx="347472" cy="34747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00600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30368" y="137160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why revenue declined post-2023, determine if it is a data gap or a real trend.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00600" y="2029968"/>
            <a:ext cx="347472" cy="34747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0600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30368" y="202996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promotional campaigns for slow-moving products like Nerds and White Chocolate Dream Bar.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00600" y="2688336"/>
            <a:ext cx="347472" cy="34747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0600" y="2688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30368" y="268833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Chocolate division's monthly targets, they may be set too high relative to demand.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00600" y="3346704"/>
            <a:ext cx="347472" cy="34747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0600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30368" y="3346704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growing the Wholesaler customer segment given their high revenue-per-customer ratio.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00600" y="4005072"/>
            <a:ext cx="347472" cy="34747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0600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30368" y="400507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lower-margin factories to identify cost-reduction opportunities in their product lines.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417320"/>
            <a:ext cx="5029200" cy="5486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20040" y="2267430"/>
            <a:ext cx="54864" cy="34747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226743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 Kaggle: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889222"/>
            <a:ext cx="54864" cy="34747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88922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Database: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2910659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https://portal.azure.com</a:t>
            </a:r>
            <a:r>
              <a:rPr lang="en-US" sz="12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database hosting platform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226743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https://mavenanalytics.io/data-playground/us-candy-distributor</a:t>
            </a:r>
            <a:r>
              <a:rPr lang="en-US" sz="12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511296"/>
            <a:ext cx="54864" cy="34747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5112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351129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https://github.com/aalonso003/US_Candy_Distributor_DB_Analysis</a:t>
            </a:r>
            <a:r>
              <a:rPr lang="en-US" sz="12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All deliverables published SQL files, charts, presentation, .</a:t>
            </a:r>
            <a:r>
              <a:rPr lang="en-US" sz="1200" dirty="0" err="1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bacpac</a:t>
            </a:r>
            <a:r>
              <a:rPr lang="en-US" sz="12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4133088"/>
            <a:ext cx="54864" cy="34747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41330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Usage: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41330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 - assisted with query logic review, debugging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- for cleaning and making dataset useful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1078</TotalTime>
  <Words>787</Words>
  <Application>Microsoft Office PowerPoint</Application>
  <PresentationFormat>On-screen Show (16:9)</PresentationFormat>
  <Paragraphs>116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Candy Distributor Database Analysis</dc:title>
  <dc:subject>PptxGenJS Presentation</dc:subject>
  <dc:creator>PptxGenJS</dc:creator>
  <cp:lastModifiedBy>Chris Negron</cp:lastModifiedBy>
  <cp:revision>6</cp:revision>
  <dcterms:created xsi:type="dcterms:W3CDTF">2026-04-22T00:34:46Z</dcterms:created>
  <dcterms:modified xsi:type="dcterms:W3CDTF">2026-04-23T02:02:12Z</dcterms:modified>
</cp:coreProperties>
</file>